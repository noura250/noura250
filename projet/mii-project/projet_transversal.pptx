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déplacer la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diapo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</a:t>
            </a:r>
            <a:r>
              <a:rPr b="0" lang="fr-FR" sz="2000" spc="-1" strike="noStrike">
                <a:latin typeface="Arial"/>
              </a:rPr>
              <a:t>modifier le format </a:t>
            </a:r>
            <a:r>
              <a:rPr b="0" lang="fr-FR" sz="2000" spc="-1" strike="noStrike">
                <a:latin typeface="Arial"/>
              </a:rPr>
              <a:t>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6B1FD20-3B99-4D50-AA51-83E8A8AF7D01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B0C2BC-8879-41FC-B5D4-3764C69C5F9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8FE4A9-80D1-43D6-9DE3-393A1C7BE4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31CFE5-5B9A-4589-B9C5-2CEAAD8846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2B0A4A-919C-48AD-9935-506C2E05E4B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9E96D9-1DA4-4E7A-B5F4-EDB24BCAAD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901E0F-B6C1-4F01-8A04-DD5961B7FD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2A1535-6FFC-4F57-9B03-CB7D68CDC89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365760" y="41148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PRO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JET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TRA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NSV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ERS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AL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·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Dév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elo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ppe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r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un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pro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jet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en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util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isa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nt</a:t>
            </a:r>
            <a:br>
              <a:rPr sz="900"/>
            </a:b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 les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nou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vell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es 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tec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hno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logi</a:t>
            </a:r>
            <a:r>
              <a:rPr b="0" lang="en-US" sz="900" spc="299" strike="noStrike">
                <a:solidFill>
                  <a:srgbClr val="94a3b8"/>
                </a:solidFill>
                <a:latin typeface="Calibri"/>
              </a:rPr>
              <a:t>es</a:t>
            </a:r>
            <a:br>
              <a:rPr sz="900"/>
            </a:br>
            <a:endParaRPr b="0" lang="fr-FR" sz="9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365760" y="822960"/>
            <a:ext cx="59432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Construire</a:t>
            </a:r>
            <a:endParaRPr b="0" lang="fr-FR" sz="42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une App Web</a:t>
            </a:r>
            <a:endParaRPr b="0" lang="fr-FR" sz="42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avec des outils IA</a:t>
            </a:r>
            <a:endParaRPr b="0" lang="fr-FR" sz="42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65760" y="37490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891b2"/>
                </a:solidFill>
                <a:latin typeface="Calibri"/>
              </a:rPr>
              <a:t>Lovable · Cursor · Copilot · Claude Code...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6766560" y="457200"/>
            <a:ext cx="2102760" cy="4205880"/>
          </a:xfrm>
          <a:prstGeom prst="rect">
            <a:avLst/>
          </a:prstGeom>
          <a:solidFill>
            <a:srgbClr val="1e2d45"/>
          </a:solidFill>
          <a:ln w="12600">
            <a:solidFill>
              <a:srgbClr val="1e2d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6766560" y="457200"/>
            <a:ext cx="63720" cy="420588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6903720" y="685800"/>
            <a:ext cx="18284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⚡ </a:t>
            </a: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1 semaine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🧑‍💻 </a:t>
            </a: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Groupes 3–4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🚀 </a:t>
            </a: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App hébergée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📁 </a:t>
            </a: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Repo GitHub</a:t>
            </a:r>
            <a:endParaRPr b="0" lang="fr-FR" sz="1300" spc="-1" strike="noStrike">
              <a:latin typeface="Arial"/>
            </a:endParaRPr>
          </a:p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📋 </a:t>
            </a:r>
            <a:r>
              <a:rPr b="0" lang="en-US" sz="1300" spc="-1" strike="noStrike">
                <a:solidFill>
                  <a:srgbClr val="f0f4f8"/>
                </a:solidFill>
                <a:latin typeface="Calibri"/>
              </a:rPr>
              <a:t>README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365760" y="46634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Rendu : [12 avril 2026]</a:t>
            </a:r>
            <a:endParaRPr b="0" lang="fr-F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1a2e"/>
          </a:solidFill>
          <a:ln w="126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1"/>
          <p:cNvSpPr/>
          <p:nvPr/>
        </p:nvSpPr>
        <p:spPr>
          <a:xfrm>
            <a:off x="457200" y="255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OBJECTIF DU PROJET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457200" y="114300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Calibri"/>
              </a:rPr>
              <a:t>Créer une application web fonctionnelle</a:t>
            </a:r>
            <a:endParaRPr b="0" lang="fr-FR" sz="22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Calibri"/>
              </a:rPr>
              <a:t>en un temps limité, avec des outils IA.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320040" y="2560320"/>
            <a:ext cx="2651400" cy="2194200"/>
          </a:xfrm>
          <a:prstGeom prst="rect">
            <a:avLst/>
          </a:prstGeom>
          <a:solidFill>
            <a:srgbClr val="1a1a2e"/>
          </a:solidFill>
          <a:ln w="12600">
            <a:solidFill>
              <a:srgbClr val="1a1a2e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Shape 4"/>
          <p:cNvSpPr/>
          <p:nvPr/>
        </p:nvSpPr>
        <p:spPr>
          <a:xfrm>
            <a:off x="320040" y="2560320"/>
            <a:ext cx="2651400" cy="637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5"/>
          <p:cNvSpPr/>
          <p:nvPr/>
        </p:nvSpPr>
        <p:spPr>
          <a:xfrm>
            <a:off x="457200" y="26974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45720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Idée &amp; Concept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457200" y="367596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Un projet original, utile</a:t>
            </a:r>
            <a:endParaRPr b="0" lang="fr-FR" sz="11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ou fun, à vous de choisir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3246120" y="2560320"/>
            <a:ext cx="2651400" cy="2194200"/>
          </a:xfrm>
          <a:prstGeom prst="rect">
            <a:avLst/>
          </a:prstGeom>
          <a:solidFill>
            <a:srgbClr val="1a1a2e"/>
          </a:solidFill>
          <a:ln w="12600">
            <a:solidFill>
              <a:srgbClr val="1a1a2e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9"/>
          <p:cNvSpPr/>
          <p:nvPr/>
        </p:nvSpPr>
        <p:spPr>
          <a:xfrm>
            <a:off x="3246120" y="2560320"/>
            <a:ext cx="2651400" cy="637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0"/>
          <p:cNvSpPr/>
          <p:nvPr/>
        </p:nvSpPr>
        <p:spPr>
          <a:xfrm>
            <a:off x="3383280" y="26974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338328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Vitesse d'exécution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3383280" y="367596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L'IA accélère tout</a:t>
            </a:r>
            <a:endParaRPr b="0" lang="fr-FR" sz="11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Iterez, testez, déployez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6172200" y="2560320"/>
            <a:ext cx="2651400" cy="2194200"/>
          </a:xfrm>
          <a:prstGeom prst="rect">
            <a:avLst/>
          </a:prstGeom>
          <a:solidFill>
            <a:srgbClr val="1a1a2e"/>
          </a:solidFill>
          <a:ln w="12600">
            <a:solidFill>
              <a:srgbClr val="1a1a2e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14"/>
          <p:cNvSpPr/>
          <p:nvPr/>
        </p:nvSpPr>
        <p:spPr>
          <a:xfrm>
            <a:off x="6172200" y="2560320"/>
            <a:ext cx="2651400" cy="637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5"/>
          <p:cNvSpPr/>
          <p:nvPr/>
        </p:nvSpPr>
        <p:spPr>
          <a:xfrm>
            <a:off x="6309360" y="26974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🤝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6309360" y="32461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Travail d'équipe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6309360" y="367596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3 ou 4 développeurs,</a:t>
            </a:r>
            <a:endParaRPr b="0" lang="fr-FR" sz="11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un seul repo GitHub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3460"/>
          </a:solidFill>
          <a:ln w="126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"/>
          <p:cNvSpPr/>
          <p:nvPr/>
        </p:nvSpPr>
        <p:spPr>
          <a:xfrm>
            <a:off x="457200" y="255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TROUVER VOS OUTILS — 1H DE RECHERCHE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457200" y="1024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4a3b8"/>
                </a:solidFill>
                <a:latin typeface="Calibri"/>
              </a:rPr>
              <a:t>Votre première tâche : explorer et choisir les outils IA qui vous conviennent.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320040" y="1554480"/>
            <a:ext cx="2742840" cy="191988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  <a:effectLst>
            <a:outerShdw dist="25455" dir="8100000" blurRad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fr-FR" sz="1800" spc="-1" strike="noStrike">
                <a:latin typeface="Arial"/>
              </a:rPr>
              <a:t>   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320040" y="1554480"/>
            <a:ext cx="2742840" cy="637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5"/>
          <p:cNvSpPr/>
          <p:nvPr/>
        </p:nvSpPr>
        <p:spPr>
          <a:xfrm>
            <a:off x="457200" y="1664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1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457200" y="22129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Quels outils existent ?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57200" y="2651760"/>
            <a:ext cx="2468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Générateurs d'app, IDE IA,</a:t>
            </a:r>
            <a:endParaRPr b="0" lang="fr-FR" sz="11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assistants de code, agents CLI…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3227760" y="1554480"/>
            <a:ext cx="2742840" cy="191988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  <a:effectLst>
            <a:outerShdw dist="25455" dir="8100000" blurRad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Shape 9"/>
          <p:cNvSpPr/>
          <p:nvPr/>
        </p:nvSpPr>
        <p:spPr>
          <a:xfrm>
            <a:off x="3227760" y="1554480"/>
            <a:ext cx="2742840" cy="637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0"/>
          <p:cNvSpPr/>
          <p:nvPr/>
        </p:nvSpPr>
        <p:spPr>
          <a:xfrm>
            <a:off x="3364920" y="1664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2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3364920" y="22129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Lesquels pour votre projet ?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3364920" y="2651760"/>
            <a:ext cx="2468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Comparez les limites gratuites,</a:t>
            </a:r>
            <a:endParaRPr b="0" lang="fr-FR" sz="11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la prise en main, le cas d'usage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6135480" y="1554480"/>
            <a:ext cx="2742840" cy="191988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  <a:effectLst>
            <a:outerShdw dist="25455" dir="8100000" blurRad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14"/>
          <p:cNvSpPr/>
          <p:nvPr/>
        </p:nvSpPr>
        <p:spPr>
          <a:xfrm>
            <a:off x="6135480" y="1554480"/>
            <a:ext cx="2742840" cy="637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5"/>
          <p:cNvSpPr/>
          <p:nvPr/>
        </p:nvSpPr>
        <p:spPr>
          <a:xfrm>
            <a:off x="6272640" y="1664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3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6272640" y="22129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Comment travailler ensemble ?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6272640" y="2651760"/>
            <a:ext cx="2468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1 outil central partagé +</a:t>
            </a:r>
            <a:endParaRPr b="0" lang="fr-FR" sz="11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contributions individuelles via Git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88" name="Shape 18"/>
          <p:cNvSpPr/>
          <p:nvPr/>
        </p:nvSpPr>
        <p:spPr>
          <a:xfrm>
            <a:off x="320040" y="3657600"/>
            <a:ext cx="8503560" cy="804240"/>
          </a:xfrm>
          <a:prstGeom prst="rect">
            <a:avLst/>
          </a:prstGeom>
          <a:solidFill>
            <a:srgbClr val="0f3460"/>
          </a:solidFill>
          <a:ln w="126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9"/>
          <p:cNvSpPr/>
          <p:nvPr/>
        </p:nvSpPr>
        <p:spPr>
          <a:xfrm>
            <a:off x="502920" y="37216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99" strike="noStrike">
                <a:solidFill>
                  <a:srgbClr val="0891b2"/>
                </a:solidFill>
                <a:latin typeface="Calibri"/>
              </a:rPr>
              <a:t>EXEMPLES D'OUTILS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502920" y="40050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Lovable  ·  Cursor  ·  GitHub Copilot  ·  Claude Code  ·  Bolt  ·  v0  ·  Windsurf  ·  et bien d'autres…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91" name="Shape 21"/>
          <p:cNvSpPr/>
          <p:nvPr/>
        </p:nvSpPr>
        <p:spPr>
          <a:xfrm>
            <a:off x="320040" y="4645080"/>
            <a:ext cx="8503560" cy="347040"/>
          </a:xfrm>
          <a:prstGeom prst="rect">
            <a:avLst/>
          </a:prstGeom>
          <a:solidFill>
            <a:srgbClr val="1a1a2e"/>
          </a:solidFill>
          <a:ln w="648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22"/>
          <p:cNvSpPr/>
          <p:nvPr/>
        </p:nvSpPr>
        <p:spPr>
          <a:xfrm>
            <a:off x="457200" y="4672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891b2"/>
                </a:solidFill>
                <a:latin typeface="Calibri"/>
              </a:rPr>
              <a:t>💡  </a:t>
            </a:r>
            <a:r>
              <a:rPr b="0" i="1" lang="en-US" sz="1100" spc="-1" strike="noStrike">
                <a:solidFill>
                  <a:srgbClr val="0891b2"/>
                </a:solidFill>
                <a:latin typeface="Calibri"/>
              </a:rPr>
              <a:t>TIPS : Les meilleurs prompts viennent de l'IA elle-même donc demandez-lui comment se prompter !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3460"/>
          </a:solidFill>
          <a:ln w="126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"/>
          <p:cNvSpPr/>
          <p:nvPr/>
        </p:nvSpPr>
        <p:spPr>
          <a:xfrm>
            <a:off x="457200" y="255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ÉTAPES DU PROJET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320040" y="1115640"/>
            <a:ext cx="658080" cy="658080"/>
          </a:xfrm>
          <a:prstGeom prst="ellipse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3"/>
          <p:cNvSpPr/>
          <p:nvPr/>
        </p:nvSpPr>
        <p:spPr>
          <a:xfrm>
            <a:off x="320040" y="122544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649080" y="1801080"/>
            <a:ext cx="360" cy="256320"/>
          </a:xfrm>
          <a:prstGeom prst="line">
            <a:avLst/>
          </a:prstGeom>
          <a:ln w="19080">
            <a:solidFill>
              <a:srgbClr val="0891b2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5"/>
          <p:cNvSpPr/>
          <p:nvPr/>
        </p:nvSpPr>
        <p:spPr>
          <a:xfrm>
            <a:off x="1188720" y="115200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Idée &amp; Brainstorm + recherche outils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1188720" y="148140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Définissez votre concept, ciblez un besoin réel ou une idée créative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320040" y="2048400"/>
            <a:ext cx="658080" cy="658080"/>
          </a:xfrm>
          <a:prstGeom prst="ellipse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8"/>
          <p:cNvSpPr/>
          <p:nvPr/>
        </p:nvSpPr>
        <p:spPr>
          <a:xfrm>
            <a:off x="320040" y="215784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649080" y="2733840"/>
            <a:ext cx="360" cy="255960"/>
          </a:xfrm>
          <a:prstGeom prst="line">
            <a:avLst/>
          </a:prstGeom>
          <a:ln w="19080">
            <a:solidFill>
              <a:srgbClr val="0891b2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0"/>
          <p:cNvSpPr/>
          <p:nvPr/>
        </p:nvSpPr>
        <p:spPr>
          <a:xfrm>
            <a:off x="1188720" y="208476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Setup des outils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1188720" y="241416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1h : Comptes, repo GitHub, invitations, déploiement initial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320040" y="2980800"/>
            <a:ext cx="658080" cy="658080"/>
          </a:xfrm>
          <a:prstGeom prst="ellipse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3"/>
          <p:cNvSpPr/>
          <p:nvPr/>
        </p:nvSpPr>
        <p:spPr>
          <a:xfrm>
            <a:off x="320040" y="309060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649080" y="3666600"/>
            <a:ext cx="360" cy="255960"/>
          </a:xfrm>
          <a:prstGeom prst="line">
            <a:avLst/>
          </a:prstGeom>
          <a:ln w="19080">
            <a:solidFill>
              <a:srgbClr val="0891b2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5"/>
          <p:cNvSpPr/>
          <p:nvPr/>
        </p:nvSpPr>
        <p:spPr>
          <a:xfrm>
            <a:off x="1188720" y="301752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Développement IA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1188720" y="334656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Prompts, génération, itérations, utilisez les outils à fond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10" name="Shape 17"/>
          <p:cNvSpPr/>
          <p:nvPr/>
        </p:nvSpPr>
        <p:spPr>
          <a:xfrm>
            <a:off x="320040" y="3913560"/>
            <a:ext cx="658080" cy="658080"/>
          </a:xfrm>
          <a:prstGeom prst="ellipse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8"/>
          <p:cNvSpPr/>
          <p:nvPr/>
        </p:nvSpPr>
        <p:spPr>
          <a:xfrm>
            <a:off x="320040" y="402336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1188720" y="395028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README &amp; Rendu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1188720" y="427932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Remplir le template README, héberger l'app, partager le repo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1a2e"/>
          </a:solidFill>
          <a:ln w="126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"/>
          <p:cNvSpPr/>
          <p:nvPr/>
        </p:nvSpPr>
        <p:spPr>
          <a:xfrm>
            <a:off x="457200" y="255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BARÈME DE NOTATION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6858000" y="1097280"/>
            <a:ext cx="1919880" cy="59400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3"/>
          <p:cNvSpPr/>
          <p:nvPr/>
        </p:nvSpPr>
        <p:spPr>
          <a:xfrm>
            <a:off x="6858000" y="115200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TOTAL /20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320040" y="1143000"/>
            <a:ext cx="2742840" cy="3565800"/>
          </a:xfrm>
          <a:prstGeom prst="rect">
            <a:avLst/>
          </a:prstGeom>
          <a:solidFill>
            <a:srgbClr val="1a1a2e"/>
          </a:solidFill>
          <a:ln w="12600">
            <a:solidFill>
              <a:srgbClr val="1a1a2e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Shape 5"/>
          <p:cNvSpPr/>
          <p:nvPr/>
        </p:nvSpPr>
        <p:spPr>
          <a:xfrm>
            <a:off x="320040" y="1143000"/>
            <a:ext cx="2742840" cy="7272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Shape 6"/>
          <p:cNvSpPr/>
          <p:nvPr/>
        </p:nvSpPr>
        <p:spPr>
          <a:xfrm>
            <a:off x="2331720" y="1307520"/>
            <a:ext cx="594000" cy="34704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7"/>
          <p:cNvSpPr/>
          <p:nvPr/>
        </p:nvSpPr>
        <p:spPr>
          <a:xfrm>
            <a:off x="2331720" y="134424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/5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457200" y="13442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Idée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457200" y="1965960"/>
            <a:ext cx="45360" cy="50256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0"/>
          <p:cNvSpPr/>
          <p:nvPr/>
        </p:nvSpPr>
        <p:spPr>
          <a:xfrm>
            <a:off x="612720" y="19659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Originalité et pertinence du concept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457200" y="2743200"/>
            <a:ext cx="45360" cy="50256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2"/>
          <p:cNvSpPr/>
          <p:nvPr/>
        </p:nvSpPr>
        <p:spPr>
          <a:xfrm>
            <a:off x="612720" y="27432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Faisabilité dans le délai imparti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457200" y="3520440"/>
            <a:ext cx="45360" cy="50256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4"/>
          <p:cNvSpPr/>
          <p:nvPr/>
        </p:nvSpPr>
        <p:spPr>
          <a:xfrm>
            <a:off x="612720" y="35204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Valeur ajoutée identifiable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29" name="Shape 15"/>
          <p:cNvSpPr/>
          <p:nvPr/>
        </p:nvSpPr>
        <p:spPr>
          <a:xfrm>
            <a:off x="3227760" y="1143000"/>
            <a:ext cx="2742840" cy="3565800"/>
          </a:xfrm>
          <a:prstGeom prst="rect">
            <a:avLst/>
          </a:prstGeom>
          <a:solidFill>
            <a:srgbClr val="1a1a2e"/>
          </a:solidFill>
          <a:ln w="12600">
            <a:solidFill>
              <a:srgbClr val="1a1a2e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Shape 16"/>
          <p:cNvSpPr/>
          <p:nvPr/>
        </p:nvSpPr>
        <p:spPr>
          <a:xfrm>
            <a:off x="3227760" y="1143000"/>
            <a:ext cx="2742840" cy="727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Shape 17"/>
          <p:cNvSpPr/>
          <p:nvPr/>
        </p:nvSpPr>
        <p:spPr>
          <a:xfrm>
            <a:off x="5239440" y="1307520"/>
            <a:ext cx="594000" cy="3470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8"/>
          <p:cNvSpPr/>
          <p:nvPr/>
        </p:nvSpPr>
        <p:spPr>
          <a:xfrm>
            <a:off x="5239440" y="134424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/10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3364920" y="13442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⚙️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Avancement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34" name="Shape 20"/>
          <p:cNvSpPr/>
          <p:nvPr/>
        </p:nvSpPr>
        <p:spPr>
          <a:xfrm>
            <a:off x="3364920" y="1965960"/>
            <a:ext cx="45360" cy="50256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1"/>
          <p:cNvSpPr/>
          <p:nvPr/>
        </p:nvSpPr>
        <p:spPr>
          <a:xfrm>
            <a:off x="3520440" y="19659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Application fonctionnelle et hébergée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36" name="Shape 22"/>
          <p:cNvSpPr/>
          <p:nvPr/>
        </p:nvSpPr>
        <p:spPr>
          <a:xfrm>
            <a:off x="3364920" y="2743200"/>
            <a:ext cx="45360" cy="50256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23"/>
          <p:cNvSpPr/>
          <p:nvPr/>
        </p:nvSpPr>
        <p:spPr>
          <a:xfrm>
            <a:off x="3520440" y="27432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Fonctionnalités livrées vs promises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38" name="Shape 24"/>
          <p:cNvSpPr/>
          <p:nvPr/>
        </p:nvSpPr>
        <p:spPr>
          <a:xfrm>
            <a:off x="3364920" y="3520440"/>
            <a:ext cx="45360" cy="50256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25"/>
          <p:cNvSpPr/>
          <p:nvPr/>
        </p:nvSpPr>
        <p:spPr>
          <a:xfrm>
            <a:off x="3520440" y="35204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Propreté du repo (commits, structure)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40" name="Shape 26"/>
          <p:cNvSpPr/>
          <p:nvPr/>
        </p:nvSpPr>
        <p:spPr>
          <a:xfrm>
            <a:off x="6135480" y="1143000"/>
            <a:ext cx="2742840" cy="3565800"/>
          </a:xfrm>
          <a:prstGeom prst="rect">
            <a:avLst/>
          </a:prstGeom>
          <a:solidFill>
            <a:srgbClr val="1a1a2e"/>
          </a:solidFill>
          <a:ln w="12600">
            <a:solidFill>
              <a:srgbClr val="1a1a2e"/>
            </a:solidFill>
            <a:round/>
          </a:ln>
          <a:effectLst>
            <a:outerShdw dist="37674" dir="81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27"/>
          <p:cNvSpPr/>
          <p:nvPr/>
        </p:nvSpPr>
        <p:spPr>
          <a:xfrm>
            <a:off x="6135480" y="1143000"/>
            <a:ext cx="2742840" cy="7272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28"/>
          <p:cNvSpPr/>
          <p:nvPr/>
        </p:nvSpPr>
        <p:spPr>
          <a:xfrm>
            <a:off x="8147160" y="1307520"/>
            <a:ext cx="594000" cy="34704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29"/>
          <p:cNvSpPr/>
          <p:nvPr/>
        </p:nvSpPr>
        <p:spPr>
          <a:xfrm>
            <a:off x="8147160" y="134424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/5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4" name="Text 30"/>
          <p:cNvSpPr/>
          <p:nvPr/>
        </p:nvSpPr>
        <p:spPr>
          <a:xfrm>
            <a:off x="6272640" y="13442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🤖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Outils IA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45" name="Shape 31"/>
          <p:cNvSpPr/>
          <p:nvPr/>
        </p:nvSpPr>
        <p:spPr>
          <a:xfrm>
            <a:off x="6272640" y="1965960"/>
            <a:ext cx="45360" cy="50256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32"/>
          <p:cNvSpPr/>
          <p:nvPr/>
        </p:nvSpPr>
        <p:spPr>
          <a:xfrm>
            <a:off x="6428160" y="19659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Variété des outils mobilisés (2+ outils)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47" name="Shape 33"/>
          <p:cNvSpPr/>
          <p:nvPr/>
        </p:nvSpPr>
        <p:spPr>
          <a:xfrm>
            <a:off x="6272640" y="2743200"/>
            <a:ext cx="45360" cy="50256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34"/>
          <p:cNvSpPr/>
          <p:nvPr/>
        </p:nvSpPr>
        <p:spPr>
          <a:xfrm>
            <a:off x="6428160" y="27432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Prompts documentés dans le README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49" name="Shape 35"/>
          <p:cNvSpPr/>
          <p:nvPr/>
        </p:nvSpPr>
        <p:spPr>
          <a:xfrm>
            <a:off x="6272640" y="3520440"/>
            <a:ext cx="45360" cy="50256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36"/>
          <p:cNvSpPr/>
          <p:nvPr/>
        </p:nvSpPr>
        <p:spPr>
          <a:xfrm>
            <a:off x="6428160" y="35204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Réflexion sur l'usage IA (ce qui a marché / pas marché)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f3460"/>
          </a:solidFill>
          <a:ln w="126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"/>
          <p:cNvSpPr/>
          <p:nvPr/>
        </p:nvSpPr>
        <p:spPr>
          <a:xfrm>
            <a:off x="457200" y="255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TEMPLATE README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457200" y="10242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4a3b8"/>
                </a:solidFill>
                <a:latin typeface="Calibri"/>
              </a:rPr>
              <a:t>Le README est à compléter avant le rendu. Il doit répondre aux questions suivantes :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320040" y="1600200"/>
            <a:ext cx="3748680" cy="56664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4"/>
          <p:cNvSpPr/>
          <p:nvPr/>
        </p:nvSpPr>
        <p:spPr>
          <a:xfrm>
            <a:off x="320040" y="1600200"/>
            <a:ext cx="54360" cy="566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5"/>
          <p:cNvSpPr/>
          <p:nvPr/>
        </p:nvSpPr>
        <p:spPr>
          <a:xfrm>
            <a:off x="457200" y="1664280"/>
            <a:ext cx="3520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</a:rPr>
              <a:t>1.  Quel est le nom et l'objectif de votre app ?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320040" y="2313360"/>
            <a:ext cx="3748680" cy="56664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7"/>
          <p:cNvSpPr/>
          <p:nvPr/>
        </p:nvSpPr>
        <p:spPr>
          <a:xfrm>
            <a:off x="320040" y="2313360"/>
            <a:ext cx="54360" cy="566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8"/>
          <p:cNvSpPr/>
          <p:nvPr/>
        </p:nvSpPr>
        <p:spPr>
          <a:xfrm>
            <a:off x="457200" y="2377440"/>
            <a:ext cx="3520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</a:rPr>
              <a:t>2.  À quel besoin répond-elle ?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320040" y="3026520"/>
            <a:ext cx="3748680" cy="56664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0"/>
          <p:cNvSpPr/>
          <p:nvPr/>
        </p:nvSpPr>
        <p:spPr>
          <a:xfrm>
            <a:off x="320040" y="3026520"/>
            <a:ext cx="54360" cy="566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1"/>
          <p:cNvSpPr/>
          <p:nvPr/>
        </p:nvSpPr>
        <p:spPr>
          <a:xfrm>
            <a:off x="457200" y="3090600"/>
            <a:ext cx="3520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</a:rPr>
              <a:t>3.  Quelle stack technique avez-vous utilisée ?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63" name="Shape 12"/>
          <p:cNvSpPr/>
          <p:nvPr/>
        </p:nvSpPr>
        <p:spPr>
          <a:xfrm>
            <a:off x="320040" y="3740040"/>
            <a:ext cx="3748680" cy="56664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Shape 13"/>
          <p:cNvSpPr/>
          <p:nvPr/>
        </p:nvSpPr>
        <p:spPr>
          <a:xfrm>
            <a:off x="320040" y="3740040"/>
            <a:ext cx="54360" cy="566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4"/>
          <p:cNvSpPr/>
          <p:nvPr/>
        </p:nvSpPr>
        <p:spPr>
          <a:xfrm>
            <a:off x="457200" y="3803760"/>
            <a:ext cx="3520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</a:rPr>
              <a:t>4.  Quels outils IA ont été utilisés et comment ?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4800600" y="1600200"/>
            <a:ext cx="3748680" cy="56664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16"/>
          <p:cNvSpPr/>
          <p:nvPr/>
        </p:nvSpPr>
        <p:spPr>
          <a:xfrm>
            <a:off x="4800600" y="1600200"/>
            <a:ext cx="54360" cy="566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7"/>
          <p:cNvSpPr/>
          <p:nvPr/>
        </p:nvSpPr>
        <p:spPr>
          <a:xfrm>
            <a:off x="4937760" y="1664280"/>
            <a:ext cx="3520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</a:rPr>
              <a:t>5.  Donnez 2-3 exemples de prompts utilisés et ce qu'ils ont produit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4800600" y="2313360"/>
            <a:ext cx="3748680" cy="56664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9"/>
          <p:cNvSpPr/>
          <p:nvPr/>
        </p:nvSpPr>
        <p:spPr>
          <a:xfrm>
            <a:off x="4800600" y="2313360"/>
            <a:ext cx="54360" cy="566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0"/>
          <p:cNvSpPr/>
          <p:nvPr/>
        </p:nvSpPr>
        <p:spPr>
          <a:xfrm>
            <a:off x="4937760" y="2377440"/>
            <a:ext cx="3520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</a:rPr>
              <a:t>6.  Quels ont été les principaux défis rencontrés ?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4800600" y="3026520"/>
            <a:ext cx="3748680" cy="56664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22"/>
          <p:cNvSpPr/>
          <p:nvPr/>
        </p:nvSpPr>
        <p:spPr>
          <a:xfrm>
            <a:off x="4800600" y="3026520"/>
            <a:ext cx="54360" cy="566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3"/>
          <p:cNvSpPr/>
          <p:nvPr/>
        </p:nvSpPr>
        <p:spPr>
          <a:xfrm>
            <a:off x="4937760" y="3090600"/>
            <a:ext cx="3520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</a:rPr>
              <a:t>7.  Lien vers l'application hébergée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4800600" y="3740040"/>
            <a:ext cx="3748680" cy="566640"/>
          </a:xfrm>
          <a:prstGeom prst="rect">
            <a:avLst/>
          </a:prstGeom>
          <a:solidFill>
            <a:srgbClr val="1e2d45"/>
          </a:solidFill>
          <a:ln w="648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25"/>
          <p:cNvSpPr/>
          <p:nvPr/>
        </p:nvSpPr>
        <p:spPr>
          <a:xfrm>
            <a:off x="4800600" y="3740040"/>
            <a:ext cx="54360" cy="5666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6"/>
          <p:cNvSpPr/>
          <p:nvPr/>
        </p:nvSpPr>
        <p:spPr>
          <a:xfrm>
            <a:off x="4937760" y="3803760"/>
            <a:ext cx="3520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</a:rPr>
              <a:t>8.  Lien vers le repo GitHub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99" strike="noStrike">
                <a:solidFill>
                  <a:srgbClr val="0891b2"/>
                </a:solidFill>
                <a:latin typeface="Calibri"/>
              </a:rPr>
              <a:t>CE QUI EST ATTENDU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320040" y="1051560"/>
            <a:ext cx="2742840" cy="2285640"/>
          </a:xfrm>
          <a:prstGeom prst="rect">
            <a:avLst/>
          </a:prstGeom>
          <a:solidFill>
            <a:srgbClr val="1e2d45"/>
          </a:solidFill>
          <a:ln w="6480">
            <a:solidFill>
              <a:srgbClr val="0891b2"/>
            </a:solidFill>
            <a:round/>
          </a:ln>
          <a:effectLst>
            <a:outerShdw dist="25455" dir="8100000" blurRad="7632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Text 3"/>
          <p:cNvSpPr/>
          <p:nvPr/>
        </p:nvSpPr>
        <p:spPr>
          <a:xfrm>
            <a:off x="457200" y="1188720"/>
            <a:ext cx="639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🌐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457200" y="182880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App hébergée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457200" y="22402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Vercel, Lovable, Railway ou autre →  accessible en ligne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3227760" y="1051560"/>
            <a:ext cx="2742840" cy="2285640"/>
          </a:xfrm>
          <a:prstGeom prst="rect">
            <a:avLst/>
          </a:prstGeom>
          <a:solidFill>
            <a:srgbClr val="1e2d45"/>
          </a:solidFill>
          <a:ln w="6480">
            <a:solidFill>
              <a:srgbClr val="0891b2"/>
            </a:solidFill>
            <a:round/>
          </a:ln>
          <a:effectLst>
            <a:outerShdw dist="25455" dir="8100000" blurRad="7632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Text 7"/>
          <p:cNvSpPr/>
          <p:nvPr/>
        </p:nvSpPr>
        <p:spPr>
          <a:xfrm>
            <a:off x="3364920" y="1188720"/>
            <a:ext cx="639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📁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3364920" y="182880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Repo GitHub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3364920" y="22402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Code source + invitation professeur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6135480" y="1051560"/>
            <a:ext cx="2742840" cy="2285640"/>
          </a:xfrm>
          <a:prstGeom prst="rect">
            <a:avLst/>
          </a:prstGeom>
          <a:solidFill>
            <a:srgbClr val="1e2d45"/>
          </a:solidFill>
          <a:ln w="6480">
            <a:solidFill>
              <a:srgbClr val="0891b2"/>
            </a:solidFill>
            <a:round/>
          </a:ln>
          <a:effectLst>
            <a:outerShdw dist="25455" dir="8100000" blurRad="7632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Text 11"/>
          <p:cNvSpPr/>
          <p:nvPr/>
        </p:nvSpPr>
        <p:spPr>
          <a:xfrm>
            <a:off x="6272640" y="1188720"/>
            <a:ext cx="639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6272640" y="182880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README/DOC complet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6272640" y="22402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Template fourni, toutes les questions répondue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320040" y="3520440"/>
            <a:ext cx="8503560" cy="6397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5"/>
          <p:cNvSpPr/>
          <p:nvPr/>
        </p:nvSpPr>
        <p:spPr>
          <a:xfrm>
            <a:off x="457200" y="358452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a1a2e"/>
                </a:solidFill>
                <a:latin typeface="Calibri"/>
              </a:rPr>
              <a:t>📅  </a:t>
            </a:r>
            <a:r>
              <a:rPr b="1" lang="en-US" sz="1800" spc="-1" strike="noStrike">
                <a:solidFill>
                  <a:srgbClr val="1a1a2e"/>
                </a:solidFill>
                <a:latin typeface="Calibri"/>
              </a:rPr>
              <a:t>Date de rendu : [12/04/2025]</a:t>
            </a:r>
            <a:br>
              <a:rPr sz="1800"/>
            </a:br>
            <a:r>
              <a:rPr b="1" lang="en-US" sz="1800" spc="-1" strike="noStrike">
                <a:solidFill>
                  <a:srgbClr val="1a1a2e"/>
                </a:solidFill>
                <a:latin typeface="Calibri"/>
              </a:rPr>
              <a:t>Mail : enzo.tueleau1@mail-formateur.net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94" name="Text 16"/>
          <p:cNvSpPr/>
          <p:nvPr/>
        </p:nvSpPr>
        <p:spPr>
          <a:xfrm>
            <a:off x="457200" y="4434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4a3b8"/>
                </a:solidFill>
                <a:latin typeface="Calibri"/>
              </a:rPr>
              <a:t>Bonne chance à tous — have fun building ! 🚀</a:t>
            </a:r>
            <a:endParaRPr b="0" lang="fr-FR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LibreOffice/7.3.7.2$Linux_X86_64 LibreOffice_project/30$Build-2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2026-03-31T07:41:44Z</dcterms:created>
  <dc:creator>PptxGenJS</dc:creator>
  <dc:description/>
  <dc:language>fr-FR</dc:language>
  <cp:lastModifiedBy/>
  <dcterms:modified xsi:type="dcterms:W3CDTF">2026-04-02T17:59:05Z</dcterms:modified>
  <cp:revision>9</cp:revision>
  <dc:subject>PptxGenJS Presentation</dc:subject>
  <dc:title>Projet Transversal – Outils 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